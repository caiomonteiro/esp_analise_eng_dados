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Marcellus"/>
      <p:regular r:id="rId17"/>
    </p:embeddedFont>
    <p:embeddedFont>
      <p:font typeface="Montserrat"/>
      <p:regular r:id="rId18"/>
    </p:embeddedFont>
    <p:embeddedFont>
      <p:font typeface="Montserrat"/>
      <p:regular r:id="rId19"/>
    </p:embeddedFont>
    <p:embeddedFont>
      <p:font typeface="Montserrat"/>
      <p:regular r:id="rId20"/>
    </p:embeddedFont>
    <p:embeddedFont>
      <p:font typeface="Montserrat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7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11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78273"/>
            <a:ext cx="7556421" cy="2543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Terremotos Severos: Quem São, Onde Estão e o Que Fazer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6280190" y="5261610"/>
            <a:ext cx="7556421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 de 1.000 eventos globais (1995–2023) — Recomendações para a Alta Direção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81507"/>
            <a:ext cx="13042821" cy="169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 Problema: Uma Abordagem Única Não Funciona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793790" y="3730585"/>
            <a:ext cx="4196358" cy="2072759"/>
          </a:xfrm>
          <a:prstGeom prst="roundRect">
            <a:avLst>
              <a:gd name="adj" fmla="val 4596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3464" y="3980259"/>
            <a:ext cx="3340179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1.000 eventos severos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043464" y="4540210"/>
            <a:ext cx="3697010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Registrados em 28 anos de monitoramento global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730585"/>
            <a:ext cx="4196358" cy="2072759"/>
          </a:xfrm>
          <a:prstGeom prst="roundRect">
            <a:avLst>
              <a:gd name="adj" fmla="val 4596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66636" y="3980259"/>
            <a:ext cx="369701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Impactos radicalmente diferentes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5466636" y="4964073"/>
            <a:ext cx="3697010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evento exige resposta e estratégia únicas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730585"/>
            <a:ext cx="4196358" cy="2072759"/>
          </a:xfrm>
          <a:prstGeom prst="roundRect">
            <a:avLst>
              <a:gd name="adj" fmla="val 4596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89808" y="3980259"/>
            <a:ext cx="3403283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Priorização de recursos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889808" y="4540210"/>
            <a:ext cx="3697010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Direcionar esforços para onde mais importa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6058495"/>
            <a:ext cx="13042821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Mensagem crítica: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Tratar todos os terremotos da mesma forma desperdiça recursos e deixa populações vulneráveis sem proteção adequada.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260" y="585788"/>
            <a:ext cx="6113621" cy="794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250"/>
              </a:lnSpc>
              <a:buNone/>
            </a:pPr>
            <a:r>
              <a:rPr lang="en-US" sz="48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Nossa Abordagem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44260" y="3096697"/>
            <a:ext cx="6994565" cy="80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Analisamos dados de 1.000 terremotos e identificamos 4 perfis distintos, cada um exigindo estratégia diferente de preparação e resposta.</a:t>
            </a:r>
            <a:endParaRPr lang="en-US" sz="1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5081" y="1903690"/>
            <a:ext cx="5628561" cy="31894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4260" y="5541526"/>
            <a:ext cx="4247674" cy="637937"/>
          </a:xfrm>
          <a:prstGeom prst="roundRect">
            <a:avLst>
              <a:gd name="adj" fmla="val 480013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08553" y="5653207"/>
            <a:ext cx="318968" cy="4145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956905" y="6378773"/>
            <a:ext cx="3303984" cy="39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Coleta de dados globais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956905" y="6895624"/>
            <a:ext cx="3822382" cy="267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Integração de fontes internacionais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5191244" y="5541526"/>
            <a:ext cx="4247793" cy="637937"/>
          </a:xfrm>
          <a:prstGeom prst="roundRect">
            <a:avLst>
              <a:gd name="adj" fmla="val 480013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55656" y="5653207"/>
            <a:ext cx="318968" cy="4145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5403890" y="6378773"/>
            <a:ext cx="3407807" cy="39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Identificação de padrões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5403890" y="6895624"/>
            <a:ext cx="3822502" cy="535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Segmentação por impacto e localização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9638348" y="5541526"/>
            <a:ext cx="4247793" cy="637937"/>
          </a:xfrm>
          <a:prstGeom prst="roundRect">
            <a:avLst>
              <a:gd name="adj" fmla="val 480013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602760" y="5653207"/>
            <a:ext cx="318968" cy="4145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9850993" y="6378773"/>
            <a:ext cx="3056811" cy="39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Estratégia por perfil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9850993" y="6895624"/>
            <a:ext cx="3822502" cy="535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Resposta personalizada para cada grupo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025" y="659130"/>
            <a:ext cx="6489978" cy="821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450"/>
              </a:lnSpc>
              <a:buNone/>
            </a:pPr>
            <a:r>
              <a:rPr lang="en-US" sz="49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Os 4 Perfis: Visão Geral</a:t>
            </a:r>
            <a:endParaRPr lang="en-US" sz="4950" dirty="0"/>
          </a:p>
        </p:txBody>
      </p:sp>
      <p:sp>
        <p:nvSpPr>
          <p:cNvPr id="3" name="Shape 1"/>
          <p:cNvSpPr/>
          <p:nvPr/>
        </p:nvSpPr>
        <p:spPr>
          <a:xfrm>
            <a:off x="769025" y="1905952"/>
            <a:ext cx="6439733" cy="2866430"/>
          </a:xfrm>
          <a:prstGeom prst="roundRect">
            <a:avLst>
              <a:gd name="adj" fmla="val 3220"/>
            </a:avLst>
          </a:prstGeom>
          <a:solidFill>
            <a:srgbClr val="FFFFF4"/>
          </a:solidFill>
          <a:ln w="22860">
            <a:solidFill>
              <a:srgbClr val="2196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1555" y="2148483"/>
            <a:ext cx="659130" cy="659130"/>
          </a:xfrm>
          <a:prstGeom prst="roundRect">
            <a:avLst>
              <a:gd name="adj" fmla="val 13871445"/>
            </a:avLst>
          </a:prstGeom>
          <a:solidFill>
            <a:srgbClr val="2196F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92768" y="2329696"/>
            <a:ext cx="296585" cy="29658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1555" y="3020378"/>
            <a:ext cx="4534495" cy="41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Grupo 1: Costeiros com Tsunami</a:t>
            </a:r>
            <a:endParaRPr lang="en-US" sz="2450" dirty="0"/>
          </a:p>
        </p:txBody>
      </p:sp>
      <p:sp>
        <p:nvSpPr>
          <p:cNvPr id="7" name="Text 4"/>
          <p:cNvSpPr/>
          <p:nvPr/>
        </p:nvSpPr>
        <p:spPr>
          <a:xfrm>
            <a:off x="1011555" y="3558540"/>
            <a:ext cx="5954673" cy="281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30%</a:t>
            </a:r>
            <a:pPr algn="l"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dos eventos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11555" y="3967401"/>
            <a:ext cx="5954673" cy="562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Eventos rasos próximos ao litoral com alto risco de tsunami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421523" y="1905952"/>
            <a:ext cx="6439853" cy="2866430"/>
          </a:xfrm>
          <a:prstGeom prst="roundRect">
            <a:avLst>
              <a:gd name="adj" fmla="val 3220"/>
            </a:avLst>
          </a:prstGeom>
          <a:solidFill>
            <a:srgbClr val="FFFFF4"/>
          </a:solidFill>
          <a:ln w="22860">
            <a:solidFill>
              <a:srgbClr val="F4433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64053" y="2148483"/>
            <a:ext cx="659130" cy="659130"/>
          </a:xfrm>
          <a:prstGeom prst="roundRect">
            <a:avLst>
              <a:gd name="adj" fmla="val 13871445"/>
            </a:avLst>
          </a:prstGeom>
          <a:solidFill>
            <a:srgbClr val="F4433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45266" y="2329696"/>
            <a:ext cx="296585" cy="29658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64053" y="3020378"/>
            <a:ext cx="5774412" cy="41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Grupo 2: Megaterremotos Devastadores</a:t>
            </a:r>
            <a:endParaRPr lang="en-US" sz="2450" dirty="0"/>
          </a:p>
        </p:txBody>
      </p:sp>
      <p:sp>
        <p:nvSpPr>
          <p:cNvPr id="13" name="Text 9"/>
          <p:cNvSpPr/>
          <p:nvPr/>
        </p:nvSpPr>
        <p:spPr>
          <a:xfrm>
            <a:off x="7664053" y="3558540"/>
            <a:ext cx="5954792" cy="281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13%</a:t>
            </a:r>
            <a:pPr algn="l"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dos eventos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664053" y="3967401"/>
            <a:ext cx="5954792" cy="562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mais raros e mortais — concentram alertas máximos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769025" y="4985147"/>
            <a:ext cx="6439733" cy="2585204"/>
          </a:xfrm>
          <a:prstGeom prst="roundRect">
            <a:avLst>
              <a:gd name="adj" fmla="val 3570"/>
            </a:avLst>
          </a:prstGeom>
          <a:solidFill>
            <a:srgbClr val="FFFFF4"/>
          </a:solidFill>
          <a:ln w="22860">
            <a:solidFill>
              <a:srgbClr val="9C27B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011555" y="5227677"/>
            <a:ext cx="659130" cy="659130"/>
          </a:xfrm>
          <a:prstGeom prst="roundRect">
            <a:avLst>
              <a:gd name="adj" fmla="val 13871445"/>
            </a:avLst>
          </a:prstGeom>
          <a:solidFill>
            <a:srgbClr val="9C27B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92768" y="5408890"/>
            <a:ext cx="296585" cy="29658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11555" y="6099572"/>
            <a:ext cx="4497824" cy="41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Grupo 3: Terremotos Profundos</a:t>
            </a:r>
            <a:endParaRPr lang="en-US" sz="2450" dirty="0"/>
          </a:p>
        </p:txBody>
      </p:sp>
      <p:sp>
        <p:nvSpPr>
          <p:cNvPr id="19" name="Text 14"/>
          <p:cNvSpPr/>
          <p:nvPr/>
        </p:nvSpPr>
        <p:spPr>
          <a:xfrm>
            <a:off x="1011555" y="6637734"/>
            <a:ext cx="5954673" cy="281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6%</a:t>
            </a:r>
            <a:pPr algn="l"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dos eventos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1011555" y="7046595"/>
            <a:ext cx="5954673" cy="281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Mais de 500 km de profundidade — energia dissipada</a:t>
            </a:r>
            <a:endParaRPr lang="en-US" sz="1700" dirty="0"/>
          </a:p>
        </p:txBody>
      </p:sp>
      <p:sp>
        <p:nvSpPr>
          <p:cNvPr id="21" name="Shape 16"/>
          <p:cNvSpPr/>
          <p:nvPr/>
        </p:nvSpPr>
        <p:spPr>
          <a:xfrm>
            <a:off x="7421523" y="4985147"/>
            <a:ext cx="6439853" cy="2585204"/>
          </a:xfrm>
          <a:prstGeom prst="roundRect">
            <a:avLst>
              <a:gd name="adj" fmla="val 3570"/>
            </a:avLst>
          </a:prstGeom>
          <a:solidFill>
            <a:srgbClr val="FFFFF4"/>
          </a:solidFill>
          <a:ln w="22860">
            <a:solidFill>
              <a:srgbClr val="4CAF5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664053" y="5227677"/>
            <a:ext cx="659130" cy="659130"/>
          </a:xfrm>
          <a:prstGeom prst="roundRect">
            <a:avLst>
              <a:gd name="adj" fmla="val 13871445"/>
            </a:avLst>
          </a:prstGeom>
          <a:solidFill>
            <a:srgbClr val="4CAF50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45266" y="5408890"/>
            <a:ext cx="296585" cy="29658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664053" y="6099572"/>
            <a:ext cx="5203627" cy="41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Grupo 4: Remotos de Baixo Impacto</a:t>
            </a:r>
            <a:endParaRPr lang="en-US" sz="2450" dirty="0"/>
          </a:p>
        </p:txBody>
      </p:sp>
      <p:sp>
        <p:nvSpPr>
          <p:cNvPr id="25" name="Text 19"/>
          <p:cNvSpPr/>
          <p:nvPr/>
        </p:nvSpPr>
        <p:spPr>
          <a:xfrm>
            <a:off x="7664053" y="6637734"/>
            <a:ext cx="5954792" cy="281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51%</a:t>
            </a:r>
            <a:pPr algn="l"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dos eventos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7664053" y="7046595"/>
            <a:ext cx="5954792" cy="281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Regiões desabitadas — monitoramento de rotina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2228" y="608886"/>
            <a:ext cx="13265944" cy="1457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0"/>
              </a:lnSpc>
              <a:buNone/>
            </a:pPr>
            <a:r>
              <a:rPr lang="en-US" sz="44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Grupo 1: Terremotos Costeiros com Risco de Tsunami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82228" y="2132886"/>
            <a:ext cx="5656898" cy="5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500" dirty="0">
                <a:solidFill>
                  <a:srgbClr val="2196F3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30% dos eventos analisados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2228" y="3155275"/>
            <a:ext cx="438507" cy="438507"/>
          </a:xfrm>
          <a:prstGeom prst="roundRect">
            <a:avLst>
              <a:gd name="adj" fmla="val 18670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8137" y="3216116"/>
            <a:ext cx="4178141" cy="364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Eventos rasos, próximos ao litoral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8137" y="3747611"/>
            <a:ext cx="5789295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Profundidade limitada amplifica impacto na superfície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2228" y="4318040"/>
            <a:ext cx="438507" cy="438507"/>
          </a:xfrm>
          <a:prstGeom prst="roundRect">
            <a:avLst>
              <a:gd name="adj" fmla="val 18670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8137" y="4378881"/>
            <a:ext cx="3676174" cy="364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8 em cada 10 geram tsunami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88137" y="4910376"/>
            <a:ext cx="5789295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Alto índice de ondas devastadoras após o evento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2228" y="5480804"/>
            <a:ext cx="438507" cy="438507"/>
          </a:xfrm>
          <a:prstGeom prst="roundRect">
            <a:avLst>
              <a:gd name="adj" fmla="val 18670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8137" y="5541645"/>
            <a:ext cx="5099090" cy="364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Impacto rápido e amplificado pela costa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88137" y="6073140"/>
            <a:ext cx="5789295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Populações costeiras em risco imediato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2228" y="6497002"/>
            <a:ext cx="6395204" cy="935236"/>
          </a:xfrm>
          <a:prstGeom prst="roundRect">
            <a:avLst>
              <a:gd name="adj" fmla="val 8754"/>
            </a:avLst>
          </a:prstGeom>
          <a:solidFill>
            <a:srgbClr val="FFD1B3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133" y="6752868"/>
            <a:ext cx="243602" cy="194905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15641" y="6713101"/>
            <a:ext cx="5566886" cy="47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⚠</a:t>
            </a:r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l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Prioridade Alta</a:t>
            </a:r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Requer sistemas de alerta rápido e evacuação</a:t>
            </a:r>
            <a:endParaRPr lang="en-US" sz="15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588" y="3481745"/>
            <a:ext cx="6395204" cy="36239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758" y="594360"/>
            <a:ext cx="10991374" cy="781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50"/>
              </a:lnSpc>
              <a:buNone/>
            </a:pPr>
            <a:r>
              <a:rPr lang="en-US" sz="47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Grupo 2: Megaterremotos Devastadores</a:t>
            </a:r>
            <a:endParaRPr lang="en-US" sz="4700" dirty="0"/>
          </a:p>
        </p:txBody>
      </p:sp>
      <p:sp>
        <p:nvSpPr>
          <p:cNvPr id="3" name="Text 1"/>
          <p:cNvSpPr/>
          <p:nvPr/>
        </p:nvSpPr>
        <p:spPr>
          <a:xfrm>
            <a:off x="731758" y="1452801"/>
            <a:ext cx="5822633" cy="625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750" dirty="0">
                <a:solidFill>
                  <a:srgbClr val="F44336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13% dos eventos analisados</a:t>
            </a:r>
            <a:endParaRPr lang="en-US" sz="3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758" y="2583775"/>
            <a:ext cx="5644515" cy="31984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07568" y="3787497"/>
            <a:ext cx="6698575" cy="790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🚨</a:t>
            </a:r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l"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Prioridade Crítica</a:t>
            </a:r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Catástrofe humanitária: milhares de vítimas, danos estruturais extensos. Preparação máxima e normas antissísmicas rigorosas são essenciais.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893957" y="3787497"/>
            <a:ext cx="22860" cy="790932"/>
          </a:xfrm>
          <a:prstGeom prst="rect">
            <a:avLst/>
          </a:prstGeom>
          <a:solidFill>
            <a:srgbClr val="FF954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101" y="6228814"/>
            <a:ext cx="313611" cy="31361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1248" y="6215896"/>
            <a:ext cx="3548896" cy="781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3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Os mais raros e os mais mortais</a:t>
            </a:r>
            <a:endParaRPr lang="en-US" sz="2350" dirty="0"/>
          </a:p>
        </p:txBody>
      </p:sp>
      <p:sp>
        <p:nvSpPr>
          <p:cNvPr id="9" name="Text 5"/>
          <p:cNvSpPr/>
          <p:nvPr/>
        </p:nvSpPr>
        <p:spPr>
          <a:xfrm>
            <a:off x="1411248" y="7113032"/>
            <a:ext cx="3548896" cy="522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Concentram todos os 13 alertas máximos registrados</a:t>
            </a:r>
            <a:endParaRPr lang="en-US" sz="16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79350" y="6228814"/>
            <a:ext cx="313611" cy="31361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880497" y="6215896"/>
            <a:ext cx="3548896" cy="781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3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Incluem Japão 2011 (M 9,1) e Sumatra 2004</a:t>
            </a:r>
            <a:endParaRPr lang="en-US" sz="2350" dirty="0"/>
          </a:p>
        </p:txBody>
      </p:sp>
      <p:sp>
        <p:nvSpPr>
          <p:cNvPr id="12" name="Text 7"/>
          <p:cNvSpPr/>
          <p:nvPr/>
        </p:nvSpPr>
        <p:spPr>
          <a:xfrm>
            <a:off x="5880497" y="7113032"/>
            <a:ext cx="3548896" cy="522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Eventos históricos com milhares de vítimas</a:t>
            </a:r>
            <a:endParaRPr lang="en-US" sz="16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48599" y="6228814"/>
            <a:ext cx="313611" cy="31361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349746" y="6215896"/>
            <a:ext cx="3548896" cy="781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3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Destruição massiva e duradoura</a:t>
            </a:r>
            <a:endParaRPr lang="en-US" sz="2350" dirty="0"/>
          </a:p>
        </p:txBody>
      </p:sp>
      <p:sp>
        <p:nvSpPr>
          <p:cNvPr id="15" name="Text 9"/>
          <p:cNvSpPr/>
          <p:nvPr/>
        </p:nvSpPr>
        <p:spPr>
          <a:xfrm>
            <a:off x="10349746" y="7113032"/>
            <a:ext cx="3548896" cy="522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Danos estruturais extensos e recuperação prolongada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3042" y="639247"/>
            <a:ext cx="7630716" cy="1615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50"/>
              </a:lnSpc>
              <a:buNone/>
            </a:pPr>
            <a:r>
              <a:rPr lang="en-US" sz="48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Grupo 3: Terremotos Profundos</a:t>
            </a:r>
            <a:endParaRPr lang="en-US" sz="4850" dirty="0"/>
          </a:p>
        </p:txBody>
      </p:sp>
      <p:sp>
        <p:nvSpPr>
          <p:cNvPr id="4" name="Text 1"/>
          <p:cNvSpPr/>
          <p:nvPr/>
        </p:nvSpPr>
        <p:spPr>
          <a:xfrm>
            <a:off x="6243042" y="2337554"/>
            <a:ext cx="5900499" cy="646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3900" dirty="0">
                <a:solidFill>
                  <a:srgbClr val="9C27B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6% dos eventos analisados</a:t>
            </a:r>
            <a:endParaRPr lang="en-US" sz="3900" dirty="0"/>
          </a:p>
        </p:txBody>
      </p:sp>
      <p:sp>
        <p:nvSpPr>
          <p:cNvPr id="5" name="Shape 2"/>
          <p:cNvSpPr/>
          <p:nvPr/>
        </p:nvSpPr>
        <p:spPr>
          <a:xfrm>
            <a:off x="6243042" y="3292912"/>
            <a:ext cx="7630716" cy="1295162"/>
          </a:xfrm>
          <a:prstGeom prst="roundRect">
            <a:avLst>
              <a:gd name="adj" fmla="val 11296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12562" y="3292912"/>
            <a:ext cx="121920" cy="1295162"/>
          </a:xfrm>
          <a:prstGeom prst="roundRect">
            <a:avLst>
              <a:gd name="adj" fmla="val 74477"/>
            </a:avLst>
          </a:prstGeom>
          <a:solidFill>
            <a:srgbClr val="FF954F"/>
          </a:solidFill>
          <a:ln/>
        </p:spPr>
      </p:sp>
      <p:sp>
        <p:nvSpPr>
          <p:cNvPr id="7" name="Text 4"/>
          <p:cNvSpPr/>
          <p:nvPr/>
        </p:nvSpPr>
        <p:spPr>
          <a:xfrm>
            <a:off x="6581061" y="3539490"/>
            <a:ext cx="3107769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Localização Única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581061" y="4067056"/>
            <a:ext cx="7046119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Mais de 500 km de profundidade no interior da Terra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243042" y="4794052"/>
            <a:ext cx="7630716" cy="1295162"/>
          </a:xfrm>
          <a:prstGeom prst="roundRect">
            <a:avLst>
              <a:gd name="adj" fmla="val 11296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12562" y="4794052"/>
            <a:ext cx="121920" cy="1295162"/>
          </a:xfrm>
          <a:prstGeom prst="roundRect">
            <a:avLst>
              <a:gd name="adj" fmla="val 74477"/>
            </a:avLst>
          </a:prstGeom>
          <a:solidFill>
            <a:srgbClr val="FF954F"/>
          </a:solidFill>
          <a:ln/>
        </p:spPr>
      </p:sp>
      <p:sp>
        <p:nvSpPr>
          <p:cNvPr id="11" name="Text 8"/>
          <p:cNvSpPr/>
          <p:nvPr/>
        </p:nvSpPr>
        <p:spPr>
          <a:xfrm>
            <a:off x="6581061" y="5040630"/>
            <a:ext cx="3107769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Atenuação Natural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581061" y="5568196"/>
            <a:ext cx="7046119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Energia dissipada antes de chegar à superfície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243042" y="6295192"/>
            <a:ext cx="7630716" cy="1295162"/>
          </a:xfrm>
          <a:prstGeom prst="roundRect">
            <a:avLst>
              <a:gd name="adj" fmla="val 11296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12562" y="6295192"/>
            <a:ext cx="121920" cy="1295162"/>
          </a:xfrm>
          <a:prstGeom prst="roundRect">
            <a:avLst>
              <a:gd name="adj" fmla="val 74477"/>
            </a:avLst>
          </a:prstGeom>
          <a:solidFill>
            <a:srgbClr val="FF954F"/>
          </a:solidFill>
          <a:ln/>
        </p:spPr>
      </p:sp>
      <p:sp>
        <p:nvSpPr>
          <p:cNvPr id="15" name="Text 12"/>
          <p:cNvSpPr/>
          <p:nvPr/>
        </p:nvSpPr>
        <p:spPr>
          <a:xfrm>
            <a:off x="6581061" y="6541770"/>
            <a:ext cx="3107769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Risco Baixo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581061" y="7069336"/>
            <a:ext cx="7046119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Alto valor científico, baixa urgência operacional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993" y="595789"/>
            <a:ext cx="11728966" cy="754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00"/>
              </a:lnSpc>
              <a:buNone/>
            </a:pPr>
            <a:r>
              <a:rPr lang="en-US" sz="4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Grupo 4: Eventos Remotos de Baixo Impacto</a:t>
            </a:r>
            <a:endParaRPr lang="en-US" sz="4550" dirty="0"/>
          </a:p>
        </p:txBody>
      </p:sp>
      <p:sp>
        <p:nvSpPr>
          <p:cNvPr id="3" name="Text 1"/>
          <p:cNvSpPr/>
          <p:nvPr/>
        </p:nvSpPr>
        <p:spPr>
          <a:xfrm>
            <a:off x="706993" y="1422678"/>
            <a:ext cx="13216414" cy="1208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650" dirty="0">
                <a:solidFill>
                  <a:srgbClr val="4CAF5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51% dos eventos analisados — a maioria dos terremotos severos</a:t>
            </a:r>
            <a:endParaRPr lang="en-US" sz="3650" dirty="0"/>
          </a:p>
        </p:txBody>
      </p:sp>
      <p:sp>
        <p:nvSpPr>
          <p:cNvPr id="4" name="Shape 2"/>
          <p:cNvSpPr/>
          <p:nvPr/>
        </p:nvSpPr>
        <p:spPr>
          <a:xfrm>
            <a:off x="706993" y="3216473"/>
            <a:ext cx="100965" cy="100965"/>
          </a:xfrm>
          <a:prstGeom prst="roundRect">
            <a:avLst>
              <a:gd name="adj" fmla="val 452830"/>
            </a:avLst>
          </a:prstGeom>
          <a:solidFill>
            <a:srgbClr val="FF954F"/>
          </a:solidFill>
          <a:ln/>
        </p:spPr>
      </p:sp>
      <p:sp>
        <p:nvSpPr>
          <p:cNvPr id="5" name="Text 3"/>
          <p:cNvSpPr/>
          <p:nvPr/>
        </p:nvSpPr>
        <p:spPr>
          <a:xfrm>
            <a:off x="987862" y="3102888"/>
            <a:ext cx="6110049" cy="377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2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Ocorrem em regiões desabitadas ou oceânicas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87862" y="3660219"/>
            <a:ext cx="6766322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Distância das populações reduz risco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06993" y="4381857"/>
            <a:ext cx="100965" cy="100965"/>
          </a:xfrm>
          <a:prstGeom prst="roundRect">
            <a:avLst>
              <a:gd name="adj" fmla="val 452830"/>
            </a:avLst>
          </a:prstGeom>
          <a:solidFill>
            <a:srgbClr val="FF954F"/>
          </a:solidFill>
          <a:ln/>
        </p:spPr>
      </p:sp>
      <p:sp>
        <p:nvSpPr>
          <p:cNvPr id="8" name="Text 6"/>
          <p:cNvSpPr/>
          <p:nvPr/>
        </p:nvSpPr>
        <p:spPr>
          <a:xfrm>
            <a:off x="987862" y="4268272"/>
            <a:ext cx="6541889" cy="377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2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Bem monitorados, pouco sentidos pela população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87862" y="4825603"/>
            <a:ext cx="6766322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Sistema de alerta registra, mas impacto é mínimo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06993" y="5547241"/>
            <a:ext cx="100965" cy="100965"/>
          </a:xfrm>
          <a:prstGeom prst="roundRect">
            <a:avLst>
              <a:gd name="adj" fmla="val 452830"/>
            </a:avLst>
          </a:prstGeom>
          <a:solidFill>
            <a:srgbClr val="FF954F"/>
          </a:solidFill>
          <a:ln/>
        </p:spPr>
      </p:sp>
      <p:sp>
        <p:nvSpPr>
          <p:cNvPr id="11" name="Text 9"/>
          <p:cNvSpPr/>
          <p:nvPr/>
        </p:nvSpPr>
        <p:spPr>
          <a:xfrm>
            <a:off x="987862" y="5433655"/>
            <a:ext cx="4256842" cy="377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2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Taxa de tsunami quase nula (3%)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87862" y="5990987"/>
            <a:ext cx="6766322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Risco de ondas oceânicas é extremamente baixo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06993" y="6441638"/>
            <a:ext cx="7047190" cy="989767"/>
          </a:xfrm>
          <a:prstGeom prst="roundRect">
            <a:avLst>
              <a:gd name="adj" fmla="val 8573"/>
            </a:avLst>
          </a:prstGeom>
          <a:solidFill>
            <a:srgbClr val="B6FCB8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23" y="6707862"/>
            <a:ext cx="252413" cy="20193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63266" y="6672024"/>
            <a:ext cx="6188988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✅</a:t>
            </a:r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Oportunidade</a:t>
            </a:r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Monitoramento de rotina libera recursos para alto risco</a:t>
            </a:r>
            <a:endParaRPr lang="en-US" sz="15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4722" y="3658910"/>
            <a:ext cx="5676186" cy="321647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758" y="591145"/>
            <a:ext cx="10523577" cy="781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50"/>
              </a:lnSpc>
              <a:buNone/>
            </a:pPr>
            <a:r>
              <a:rPr lang="en-US" sz="47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Onde Ocorrem? — Distribuição Global</a:t>
            </a:r>
            <a:endParaRPr lang="en-US" sz="4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758" y="1878449"/>
            <a:ext cx="418148" cy="4181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758" y="2537460"/>
            <a:ext cx="3370183" cy="390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3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Anel de Fogo do Pacífico</a:t>
            </a:r>
            <a:endParaRPr lang="en-US" sz="2350" dirty="0"/>
          </a:p>
        </p:txBody>
      </p:sp>
      <p:sp>
        <p:nvSpPr>
          <p:cNvPr id="5" name="Text 2"/>
          <p:cNvSpPr/>
          <p:nvPr/>
        </p:nvSpPr>
        <p:spPr>
          <a:xfrm>
            <a:off x="731758" y="3120985"/>
            <a:ext cx="4960620" cy="261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Concentra Grupos 1, 2 e 4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758" y="3767614"/>
            <a:ext cx="418148" cy="4181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758" y="4426625"/>
            <a:ext cx="3005852" cy="390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3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Japão e Indonésia</a:t>
            </a:r>
            <a:endParaRPr lang="en-US" sz="2350" dirty="0"/>
          </a:p>
        </p:txBody>
      </p:sp>
      <p:sp>
        <p:nvSpPr>
          <p:cNvPr id="8" name="Text 4"/>
          <p:cNvSpPr/>
          <p:nvPr/>
        </p:nvSpPr>
        <p:spPr>
          <a:xfrm>
            <a:off x="731758" y="5010150"/>
            <a:ext cx="4960620" cy="522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Epicentro do Grupo 2, megaterremotos mortais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758" y="5917883"/>
            <a:ext cx="418148" cy="4181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1758" y="6576893"/>
            <a:ext cx="3005852" cy="390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3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Chile e região andina</a:t>
            </a:r>
            <a:endParaRPr lang="en-US" sz="2350" dirty="0"/>
          </a:p>
        </p:txBody>
      </p:sp>
      <p:sp>
        <p:nvSpPr>
          <p:cNvPr id="11" name="Text 6"/>
          <p:cNvSpPr/>
          <p:nvPr/>
        </p:nvSpPr>
        <p:spPr>
          <a:xfrm>
            <a:off x="731758" y="7160419"/>
            <a:ext cx="4960620" cy="261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Grupos 1 e 2, costeiros e profundos</a:t>
            </a:r>
            <a:endParaRPr lang="en-US" sz="16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0062" y="2469475"/>
            <a:ext cx="7696081" cy="43610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4504"/>
            <a:ext cx="8411885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Recomendações Estratégicas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793790" y="2095857"/>
            <a:ext cx="6407944" cy="2556153"/>
          </a:xfrm>
          <a:prstGeom prst="roundRect">
            <a:avLst>
              <a:gd name="adj" fmla="val 3727"/>
            </a:avLst>
          </a:prstGeom>
          <a:solidFill>
            <a:srgbClr val="FFFFF4"/>
          </a:solidFill>
          <a:ln w="22860">
            <a:solidFill>
              <a:srgbClr val="2196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3464" y="234553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196F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0630" y="2532698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3464" y="3252787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Grupo 1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1043464" y="3812738"/>
            <a:ext cx="5908596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Expandir sirenas e buoys de tsunami no Pacífico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2095857"/>
            <a:ext cx="6408063" cy="2556153"/>
          </a:xfrm>
          <a:prstGeom prst="roundRect">
            <a:avLst>
              <a:gd name="adj" fmla="val 3727"/>
            </a:avLst>
          </a:prstGeom>
          <a:solidFill>
            <a:srgbClr val="FFFFF4"/>
          </a:solidFill>
          <a:ln w="22860">
            <a:solidFill>
              <a:srgbClr val="F4433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78222" y="234553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4433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65388" y="2532698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78222" y="3252787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Grupo 2</a:t>
            </a:r>
            <a:endParaRPr lang="en-US" sz="2550" dirty="0"/>
          </a:p>
        </p:txBody>
      </p:sp>
      <p:sp>
        <p:nvSpPr>
          <p:cNvPr id="12" name="Text 8"/>
          <p:cNvSpPr/>
          <p:nvPr/>
        </p:nvSpPr>
        <p:spPr>
          <a:xfrm>
            <a:off x="7678222" y="3812738"/>
            <a:ext cx="5908715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Normas antissísmicas rigorosas + simulacros periódicos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878824"/>
            <a:ext cx="6407944" cy="2556153"/>
          </a:xfrm>
          <a:prstGeom prst="roundRect">
            <a:avLst>
              <a:gd name="adj" fmla="val 3727"/>
            </a:avLst>
          </a:prstGeom>
          <a:solidFill>
            <a:srgbClr val="FFFFF4"/>
          </a:solidFill>
          <a:ln w="22860">
            <a:solidFill>
              <a:srgbClr val="9C27B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43464" y="512849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9C27B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0630" y="5315664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43464" y="6035754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Grupo 3</a:t>
            </a:r>
            <a:endParaRPr lang="en-US" sz="2550" dirty="0"/>
          </a:p>
        </p:txBody>
      </p:sp>
      <p:sp>
        <p:nvSpPr>
          <p:cNvPr id="17" name="Text 12"/>
          <p:cNvSpPr/>
          <p:nvPr/>
        </p:nvSpPr>
        <p:spPr>
          <a:xfrm>
            <a:off x="1043464" y="6595705"/>
            <a:ext cx="5908596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Investir em pesquisa científica — baixa urgência operacional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4878824"/>
            <a:ext cx="6408063" cy="2556153"/>
          </a:xfrm>
          <a:prstGeom prst="roundRect">
            <a:avLst>
              <a:gd name="adj" fmla="val 3727"/>
            </a:avLst>
          </a:prstGeom>
          <a:solidFill>
            <a:srgbClr val="FFFFF4"/>
          </a:solidFill>
          <a:ln w="22860">
            <a:solidFill>
              <a:srgbClr val="4CAF5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678222" y="512849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CAF5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65388" y="5315664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78222" y="6035754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Grupo 4</a:t>
            </a:r>
            <a:endParaRPr lang="en-US" sz="2550" dirty="0"/>
          </a:p>
        </p:txBody>
      </p:sp>
      <p:sp>
        <p:nvSpPr>
          <p:cNvPr id="22" name="Text 16"/>
          <p:cNvSpPr/>
          <p:nvPr/>
        </p:nvSpPr>
        <p:spPr>
          <a:xfrm>
            <a:off x="7678222" y="6595705"/>
            <a:ext cx="5908715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Otimizar custos — monitoramento de rotina é suficiente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2026-05-03T17:48:31Z</dcterms:created>
  <dcterms:modified xsi:type="dcterms:W3CDTF">2026-05-03T17:48:31Z</dcterms:modified>
</cp:coreProperties>
</file>